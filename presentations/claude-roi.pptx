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0"/>
            <a:ext cx="12188952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EXECUTIVE BRIEFING  ·  100+ ENGINEER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Claude Code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4A017"/>
                </a:solidFill>
              </a:rPr>
              <a:t>From 41% Mistakes to 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8"/>
                </a:solidFill>
              </a:rPr>
              <a:t>A proven standard that cuts AI errors by 87%, saves 92% of token spend,
and delivers measurable ROI from day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560320" cy="128016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1E3A"/>
                </a:solidFill>
              </a:rPr>
              <a:t>87%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8"/>
                </a:solidFill>
              </a:rPr>
              <a:t>Fewer AI mistakes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749039"/>
            <a:ext cx="2560320" cy="128016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1E3A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434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8"/>
                </a:solidFill>
              </a:rPr>
              <a:t>Token reduction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749039"/>
            <a:ext cx="2560320" cy="128016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840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1E3A"/>
                </a:solidFill>
              </a:rPr>
              <a:t>$7.78M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34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8"/>
                </a:solidFill>
              </a:rPr>
              <a:t>Annual value, 100 engineers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3749039"/>
            <a:ext cx="2560320" cy="128016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3840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1E3A"/>
                </a:solidFill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8"/>
                </a:solidFill>
              </a:rPr>
              <a:t>Setup per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AB8"/>
                </a:solidFill>
              </a:rPr>
              <a:t>Arun Vaidhyanathan  ·  arun.vaidhyanathan@citi.com  ·  Citi Technology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Vanilla Claude is a liability at scale — measured across 30 codebases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2743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2743200" cy="7315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41E3A"/>
                </a:solidFill>
              </a:rPr>
              <a:t>41%
Task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Validated via Claude Code research (Jan 2026). Silent
assumptions, over-complication, orthogonal damage.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280160"/>
            <a:ext cx="2743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280160"/>
            <a:ext cx="2743200" cy="7315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41E3A"/>
                </a:solidFill>
              </a:rPr>
              <a:t>69,000
Tokens Wasted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Per session: context re-explanation, mistake rework,
architecture guessing, session spirals.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80160"/>
            <a:ext cx="2743200" cy="7315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41E3A"/>
                </a:solidFill>
              </a:rPr>
              <a:t>Zero
CX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2402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Claude guesses your architecture every session.
8,000 tokens per architecture question — and still wrong.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2743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743200" cy="7315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41E3A"/>
                </a:solidFill>
              </a:rPr>
              <a:t>No
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2402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100 engineers prompting differently. Same mistakes
happening across teams simultaneously.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B70"/>
                </a:solidFill>
              </a:rPr>
              <a:t>Without a standard, AI becomes a liability, not an asset. Every engineer fighting the same problems independently.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A 5-layer standard — one git pull, 15-minute install, works with corporate restrictions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457200" cy="7772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325880"/>
            <a:ext cx="10515600" cy="777240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399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B70"/>
                </a:solidFill>
              </a:rPr>
              <a:t>CLAUDE.md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490472"/>
            <a:ext cx="1097280" cy="292608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490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399032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12 rules loaded every session. The repo's constitution.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86000"/>
            <a:ext cx="457200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286000"/>
            <a:ext cx="10515600" cy="777240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3591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B70"/>
                </a:solidFill>
              </a:rPr>
              <a:t>skills/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2450592"/>
            <a:ext cx="109728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24505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59152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5 slash commands: /review /test /debug /commit /graphify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457200" cy="7772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337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246120"/>
            <a:ext cx="10515600" cy="777240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319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B70"/>
                </a:solidFill>
              </a:rPr>
              <a:t>hooks/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3410712"/>
            <a:ext cx="1097280" cy="29260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0" y="34107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Guardrails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319272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Block dangerous commands pre-execution. Deterministic, not AI.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457200" cy="7772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2976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206240"/>
            <a:ext cx="10515600" cy="777240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793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B70"/>
                </a:solidFill>
              </a:rPr>
              <a:t>subagents/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08960" y="4370832"/>
            <a:ext cx="1097280" cy="29260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0" y="437083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Delegation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279392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Isolated agents: code reviewer, test runner. Context stays clean.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66360"/>
            <a:ext cx="457200" cy="777240"/>
          </a:xfrm>
          <a:prstGeom prst="rect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257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166360"/>
            <a:ext cx="10515600" cy="777240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395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B70"/>
                </a:solidFill>
              </a:rPr>
              <a:t>plugins/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5330952"/>
            <a:ext cx="1097280" cy="292608"/>
          </a:xfrm>
          <a:prstGeom prst="rect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0" y="53309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Distribution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239512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Corporate-safe bundle. No bash, no curl. 15-min copy-paste install.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12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Rules 1–4: Claude Code research baseline  ·  Rules 5–12: May 2026 agent-era additions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Think Before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State assumptions. Ask, don't guess.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28016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8016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3716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Simplicity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783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Minimum code. No speculation.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8016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3716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Surgical 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783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Touch only what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128016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28016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3716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Goal-Driven Execution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83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Define success. Loop until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2608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2608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383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017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Model for Judgment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42900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AI for judgment; code for logic.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292608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91840" y="292608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3383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3017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Token Budgets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42900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4k/task · 30k/session hard caps.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292608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292608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3383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3017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Surface Conflicts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42900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Pick one pattern. Never blend two.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0" y="292608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292608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383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017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Read Before Write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42900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Read callers &amp; exports first.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7200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7200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029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4663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Tests Verify Intent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07492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Must fail when logic changes.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457200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91840" y="457200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0" y="5029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4663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Checkpoint Every Step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07492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Summarise done/verified/left.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57200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57200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5029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4663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Match Conventions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0" y="507492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Conformance over taste.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0" y="457200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0" y="4572000"/>
            <a:ext cx="457200" cy="14630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0" y="5029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92640" y="4663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Fail Loud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507492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Skips reported as success = wrong.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Token Economics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92% token reduction per session — 64,210 tokens saved every time Claude is opened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4937760" cy="41148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Line Item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234440"/>
            <a:ext cx="2651760" cy="41148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79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Vanilla Claude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234440"/>
            <a:ext cx="2651760" cy="411480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Our Setup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91640"/>
            <a:ext cx="4937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77840" y="1691640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1691640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7647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Session start (CLAUDE.md + graph)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79" y="176479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1E3A"/>
                </a:solidFill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76479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F37"/>
                </a:solidFill>
              </a:rPr>
              <a:t>2,300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4937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77840" y="2267712"/>
            <a:ext cx="2651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267712"/>
            <a:ext cx="2651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40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Context re-establishment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23408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1E3A"/>
                </a:solidFill>
              </a:rPr>
              <a:t>3,000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3408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F37"/>
                </a:solidFill>
              </a:rPr>
              <a:t>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843784"/>
            <a:ext cx="4937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77840" y="2843784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2843784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9169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Mistake rework (41% vs 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79" y="29169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1E3A"/>
                </a:solidFill>
              </a:rPr>
              <a:t>26,445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29169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F37"/>
                </a:solidFill>
              </a:rPr>
              <a:t>1,935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419856"/>
            <a:ext cx="4937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77840" y="3419856"/>
            <a:ext cx="2651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3419856"/>
            <a:ext cx="265176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4930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Architecture lookups ×5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79" y="34930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1E3A"/>
                </a:solidFill>
              </a:rPr>
              <a:t>40,000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34930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F37"/>
                </a:solidFill>
              </a:rPr>
              <a:t>1,000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995928"/>
            <a:ext cx="4937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7840" y="3995928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3995928"/>
            <a:ext cx="2651760" cy="530352"/>
          </a:xfrm>
          <a:prstGeom prst="rect">
            <a:avLst/>
          </a:prstGeom>
          <a:solidFill>
            <a:srgbClr val="F4F7FB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0690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Session spiral risk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79" y="4069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1E3A"/>
                </a:solidFill>
              </a:rPr>
              <a:t>+20,000 (uncapped)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4069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F37"/>
                </a:solidFill>
              </a:rPr>
              <a:t>0 (Rule 6)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572000"/>
            <a:ext cx="4937760" cy="502920"/>
          </a:xfrm>
          <a:prstGeom prst="rect">
            <a:avLst/>
          </a:prstGeom>
          <a:solidFill>
            <a:srgbClr val="E8F5E9"/>
          </a:solidFill>
          <a:ln w="1905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77840" y="4572000"/>
            <a:ext cx="2651760" cy="502920"/>
          </a:xfrm>
          <a:prstGeom prst="rect">
            <a:avLst/>
          </a:prstGeom>
          <a:solidFill>
            <a:srgbClr val="E8F5E9"/>
          </a:solidFill>
          <a:ln w="1905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03920" y="4572000"/>
            <a:ext cx="2651760" cy="502920"/>
          </a:xfrm>
          <a:prstGeom prst="rect">
            <a:avLst/>
          </a:prstGeom>
          <a:solidFill>
            <a:srgbClr val="E8F5E9"/>
          </a:solidFill>
          <a:ln w="1905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64515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F37"/>
                </a:solidFill>
              </a:rPr>
              <a:t>TOTAL PER SESSION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79" y="46451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1E3A"/>
                </a:solidFill>
              </a:rPr>
              <a:t>~69,445 tokens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0" y="46451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7F37"/>
                </a:solidFill>
              </a:rPr>
              <a:t>~5,235 tokens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6126480"/>
            <a:ext cx="2926080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153912"/>
            <a:ext cx="1097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$42/mo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61539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Vanilla API cost
100 sessions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6126480"/>
            <a:ext cx="2926080" cy="594360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6153912"/>
            <a:ext cx="1097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$3/mo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63440" y="61539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Our setup API cost
100 sessions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6126480"/>
            <a:ext cx="2926080" cy="59436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66560" y="6153912"/>
            <a:ext cx="1097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61539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Token reduction
per session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Return on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$150k engineer · 5 sessions/week · 50 weeks · 100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1457432" cy="201168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1145743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$7.78M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6888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8"/>
                </a:solidFill>
              </a:rPr>
              <a:t>Annual productivity value across 100 engineers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83280"/>
            <a:ext cx="36576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36576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4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B70"/>
                </a:solidFill>
              </a:rPr>
              <a:t>Mistake 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11 fewer/session × 10 min × 5 sessions/week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F37"/>
                </a:solidFill>
              </a:rPr>
              <a:t>$35,880 / engineer /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3383280"/>
            <a:ext cx="36576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3383280"/>
            <a:ext cx="36576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474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B70"/>
                </a:solidFill>
              </a:rPr>
              <a:t>Architecture Lookups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8862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5 lookups × 24 min saved × 5 sessions/week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F37"/>
                </a:solidFill>
              </a:rPr>
              <a:t>$39,000 / engineer / 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383280"/>
            <a:ext cx="36576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3383280"/>
            <a:ext cx="36576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3474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B70"/>
                </a:solidFill>
              </a:rPr>
              <a:t>Session Spirals Avoided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38862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1 spiral/week × 45 min — no 90-min debug loops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F37"/>
                </a:solidFill>
              </a:rPr>
              <a:t>$2,925 / engineer / 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94960"/>
            <a:ext cx="11457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B70"/>
                </a:solidFill>
              </a:rPr>
              <a:t>Total per engineer: $77,805/year  ·  Setup cost: 15 minutes  ·  ROI begins: Day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90-Day Pilot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Phased rollout — measurable gates at every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749039" cy="45720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1 · WEEKS 1–2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3749039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B70"/>
                </a:solidFill>
              </a:rPr>
              <a:t>10 Engineers — Validate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94560"/>
            <a:ext cx="3749039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317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Install corporate plugin (15 min each, 6 file copies)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81527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Run /graphify on 2–3 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31335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Measure mistake rate before/after with same task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81144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Collect friction points, adjust rules if needed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34440"/>
            <a:ext cx="3749039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261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2 · WEEKS 3–6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691640"/>
            <a:ext cx="3749039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37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B70"/>
                </a:solidFill>
              </a:rPr>
              <a:t>50 Engineers — Expand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194560"/>
            <a:ext cx="3749039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3317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Apply Phase 1 learnings to plugin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081527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Graph all 9 microservices via /graphify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831335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Team-specific project CLAUDE.md per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81144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Weekly quality check-in, shared callflow HTML library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1234440"/>
            <a:ext cx="3749039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261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3 · WEEKS 7–12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691640"/>
            <a:ext cx="3749039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1737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B70"/>
                </a:solidFill>
              </a:rPr>
              <a:t>100+ Engineers — Scale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2194560"/>
            <a:ext cx="3749039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23317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Full rollout: one git pull per engineer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081527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Shared graphify knowledge base across teams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831335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Monthly ROI dashboard reported to leadership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581144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→  Continuous rule tuning on real failure mode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035040"/>
            <a:ext cx="11457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5568"/>
                </a:solidFill>
              </a:rPr>
              <a:t>Stop-gate at each phase. Zero consequence if paused. No infrastructure to unwind.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8"/>
                </a:solidFill>
              </a:rPr>
              <a:t>Three approvals to begin the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Arun Vaidhyanathan  |  Citi Technology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657600" cy="45720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ASK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B70"/>
                </a:solidFill>
              </a:rPr>
              <a:t>100 Claude Code
Enterprise Licences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36576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Standard enterprise agreement.
Existing Anthropic procurement relationship.
No new vendor onboarding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234440"/>
            <a:ext cx="36576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ASK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169164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1737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B70"/>
                </a:solidFill>
              </a:rPr>
              <a:t>15 Min per Engineer
One-Time Setup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697480"/>
            <a:ext cx="36576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78892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Copy 6 files from git repo to ~/.claude/
No engineering work. No infrastructure.
Fully reversible — delete 6 files to undo.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234440"/>
            <a:ext cx="365760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ASK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69164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1737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B70"/>
                </a:solidFill>
              </a:rPr>
              <a:t>Monthly 30-Min
Review Session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2697480"/>
            <a:ext cx="36576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78892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Mistake rate metrics before/after.
Token cost trend per engineer.
Go/no-go gate for each phase.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11457432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74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0"/>
                </a:solidFill>
              </a:rPr>
              <a:t>Risk Profile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19" y="5458968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4406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No new infrastructure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5458968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54406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Fully reversible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458968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54406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Git-based &amp; auditable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5458968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62288" y="54406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No secrets in config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19" y="5751576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7332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Works corporate restrictions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5751576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3008" y="57332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No bash/curl/MCP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5751576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7648" y="57332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Phased — stop anytime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6840" y="5751576"/>
            <a:ext cx="109728" cy="164592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62288" y="57332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Existing licence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0"/>
            <a:ext cx="12188952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Four Numbers. One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651760" cy="182880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41E3A"/>
                </a:solidFill>
              </a:rPr>
              <a:t>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8"/>
                </a:solidFill>
              </a:rPr>
              <a:t>Mistake rate
Down from 41% vanilla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28800"/>
            <a:ext cx="2651760" cy="182880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F37"/>
                </a:solidFill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432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8"/>
                </a:solidFill>
              </a:rPr>
              <a:t>Token reduction
Per session vs vanilla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651760" cy="182880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4A017"/>
                </a:solidFill>
              </a:rPr>
              <a:t>$7.78M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7432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8"/>
                </a:solidFill>
              </a:rPr>
              <a:t>Annual value
100 engineers × $77k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828800"/>
            <a:ext cx="2651760" cy="182880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2A5F5"/>
                </a:solidFill>
              </a:rP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7432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8"/>
                </a:solidFill>
              </a:rPr>
              <a:t>Setup cost per engineer
ROI begins day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274552" cy="146304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Ready to deploy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8"/>
                </a:solidFill>
              </a:rPr>
              <a:t>github.com/arunvaidhyanathan/claude-personal-setup  ·  Corporate plugin packaged  ·  No engineering work to begin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A017"/>
                </a:solidFill>
              </a:rPr>
              <a:t>Approve 100 licences. Allow 15 min onboarding. Review monthly. Stop anytime.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AB8"/>
                </a:solidFill>
              </a:rPr>
              <a:t>Arun Vaidhyanathan  ·  arun.vaidhyanathan@citi.com  ·  Citi Technology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